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63" r:id="rId3"/>
    <p:sldId id="259" r:id="rId4"/>
    <p:sldId id="264" r:id="rId5"/>
    <p:sldId id="261"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9" autoAdjust="0"/>
    <p:restoredTop sz="96236" autoAdjust="0"/>
  </p:normalViewPr>
  <p:slideViewPr>
    <p:cSldViewPr snapToGrid="0">
      <p:cViewPr>
        <p:scale>
          <a:sx n="80" d="100"/>
          <a:sy n="80" d="100"/>
        </p:scale>
        <p:origin x="336" y="-4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3/28/2026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3/28/2026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3/28/2026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t>Marketing Analytics Project</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DF9C8-39EB-03B0-1F75-1A62E41F33E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447C619-507B-E01B-1E4A-7D976968360F}"/>
              </a:ext>
            </a:extLst>
          </p:cNvPr>
          <p:cNvPicPr>
            <a:picLocks noChangeAspect="1"/>
          </p:cNvPicPr>
          <p:nvPr/>
        </p:nvPicPr>
        <p:blipFill>
          <a:blip r:embed="rId2"/>
          <a:stretch>
            <a:fillRect/>
          </a:stretch>
        </p:blipFill>
        <p:spPr>
          <a:xfrm>
            <a:off x="4740965" y="1690688"/>
            <a:ext cx="7125321" cy="4594580"/>
          </a:xfrm>
          <a:prstGeom prst="rect">
            <a:avLst/>
          </a:prstGeom>
        </p:spPr>
      </p:pic>
      <p:sp>
        <p:nvSpPr>
          <p:cNvPr id="4" name="Title 3">
            <a:extLst>
              <a:ext uri="{FF2B5EF4-FFF2-40B4-BE49-F238E27FC236}">
                <a16:creationId xmlns:a16="http://schemas.microsoft.com/office/drawing/2014/main" id="{5C229F71-71D4-4A77-7657-D4B4EF441352}"/>
              </a:ext>
            </a:extLst>
          </p:cNvPr>
          <p:cNvSpPr>
            <a:spLocks noGrp="1"/>
          </p:cNvSpPr>
          <p:nvPr>
            <p:ph type="title"/>
          </p:nvPr>
        </p:nvSpPr>
        <p:spPr/>
        <p:txBody>
          <a:bodyPr/>
          <a:lstStyle/>
          <a:p>
            <a:r>
              <a:rPr lang="nb-NO" dirty="0" err="1"/>
              <a:t>Overview</a:t>
            </a:r>
            <a:endParaRPr lang="nb-NO" dirty="0"/>
          </a:p>
        </p:txBody>
      </p:sp>
      <p:sp>
        <p:nvSpPr>
          <p:cNvPr id="6" name="Content Placeholder 5">
            <a:extLst>
              <a:ext uri="{FF2B5EF4-FFF2-40B4-BE49-F238E27FC236}">
                <a16:creationId xmlns:a16="http://schemas.microsoft.com/office/drawing/2014/main" id="{82E26D57-6DDF-DAC5-0692-D87BB1821849}"/>
              </a:ext>
            </a:extLst>
          </p:cNvPr>
          <p:cNvSpPr>
            <a:spLocks noGrp="1"/>
          </p:cNvSpPr>
          <p:nvPr>
            <p:ph sz="half" idx="1"/>
          </p:nvPr>
        </p:nvSpPr>
        <p:spPr>
          <a:xfrm>
            <a:off x="528099" y="1970747"/>
            <a:ext cx="3905784"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12.82%, despite a notable dip to 4.48%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6.17%,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3.66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cxnSp>
        <p:nvCxnSpPr>
          <p:cNvPr id="11" name="Straight Arrow Connector 10">
            <a:extLst>
              <a:ext uri="{FF2B5EF4-FFF2-40B4-BE49-F238E27FC236}">
                <a16:creationId xmlns:a16="http://schemas.microsoft.com/office/drawing/2014/main" id="{6FAE75E4-81F4-190A-C188-D67B22EE38A8}"/>
              </a:ext>
            </a:extLst>
          </p:cNvPr>
          <p:cNvCxnSpPr>
            <a:cxnSpLocks/>
          </p:cNvCxnSpPr>
          <p:nvPr/>
        </p:nvCxnSpPr>
        <p:spPr>
          <a:xfrm>
            <a:off x="10058400" y="3735572"/>
            <a:ext cx="715926" cy="524540"/>
          </a:xfrm>
          <a:prstGeom prst="straightConnector1">
            <a:avLst/>
          </a:prstGeom>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Rectangle 13">
            <a:extLst>
              <a:ext uri="{FF2B5EF4-FFF2-40B4-BE49-F238E27FC236}">
                <a16:creationId xmlns:a16="http://schemas.microsoft.com/office/drawing/2014/main" id="{B34ABCED-4671-97A6-0B8E-7F32414E9D1C}"/>
              </a:ext>
            </a:extLst>
          </p:cNvPr>
          <p:cNvSpPr/>
          <p:nvPr/>
        </p:nvSpPr>
        <p:spPr>
          <a:xfrm>
            <a:off x="7561689" y="5142641"/>
            <a:ext cx="1176793" cy="123430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Rectangle 1">
            <a:extLst>
              <a:ext uri="{FF2B5EF4-FFF2-40B4-BE49-F238E27FC236}">
                <a16:creationId xmlns:a16="http://schemas.microsoft.com/office/drawing/2014/main" id="{C02B7B3C-DB6F-AEF4-C5C6-79CC8DC64F95}"/>
              </a:ext>
            </a:extLst>
          </p:cNvPr>
          <p:cNvSpPr/>
          <p:nvPr/>
        </p:nvSpPr>
        <p:spPr>
          <a:xfrm>
            <a:off x="7561688" y="2194695"/>
            <a:ext cx="1176793" cy="123430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715574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792AAEE-D149-CC99-485E-C275D3309856}"/>
              </a:ext>
            </a:extLst>
          </p:cNvPr>
          <p:cNvPicPr>
            <a:picLocks noChangeAspect="1"/>
          </p:cNvPicPr>
          <p:nvPr/>
        </p:nvPicPr>
        <p:blipFill>
          <a:blip r:embed="rId2"/>
          <a:stretch>
            <a:fillRect/>
          </a:stretch>
        </p:blipFill>
        <p:spPr>
          <a:xfrm>
            <a:off x="6019799" y="2337683"/>
            <a:ext cx="5874773" cy="3334346"/>
          </a:xfrm>
          <a:prstGeom prst="rect">
            <a:avLst/>
          </a:prstGeom>
        </p:spPr>
      </p:pic>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a:xfrm>
            <a:off x="483967" y="1690688"/>
            <a:ext cx="5535832" cy="4351338"/>
          </a:xfrm>
        </p:spPr>
        <p:txBody>
          <a:bodyPr>
            <a:normAutofit fontScale="40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March and December.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July experienced the lowest overall conversion rate at 2.94%,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September recorded the highest overall conversion rate at 15.15%, driven significantly by the Ice Skates, Hockey Stick and Baseball Glove with a remarkable 100% conversion. This indicates strong early seasonal demand supported by effective marketing strategies that successfully attracted high-intent customers, particularly for sports-related products.</a:t>
            </a:r>
          </a:p>
        </p:txBody>
      </p:sp>
      <p:sp>
        <p:nvSpPr>
          <p:cNvPr id="7" name="Rectangle 6">
            <a:extLst>
              <a:ext uri="{FF2B5EF4-FFF2-40B4-BE49-F238E27FC236}">
                <a16:creationId xmlns:a16="http://schemas.microsoft.com/office/drawing/2014/main" id="{9AE336E2-BFE9-301A-AFA2-2180EEC07102}"/>
              </a:ext>
            </a:extLst>
          </p:cNvPr>
          <p:cNvSpPr/>
          <p:nvPr/>
        </p:nvSpPr>
        <p:spPr>
          <a:xfrm>
            <a:off x="9192891" y="2337684"/>
            <a:ext cx="398762" cy="333434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9945885" y="2337683"/>
            <a:ext cx="398762" cy="3334346"/>
          </a:xfrm>
          <a:prstGeom prst="rect">
            <a:avLst/>
          </a:prstGeom>
          <a:no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149F0-1C19-6F4E-4F93-E5A855930C12}"/>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1BE2DD5D-93D3-36FB-D74D-0CDF1114736D}"/>
              </a:ext>
            </a:extLst>
          </p:cNvPr>
          <p:cNvPicPr>
            <a:picLocks noChangeAspect="1"/>
          </p:cNvPicPr>
          <p:nvPr/>
        </p:nvPicPr>
        <p:blipFill>
          <a:blip r:embed="rId2"/>
          <a:stretch>
            <a:fillRect/>
          </a:stretch>
        </p:blipFill>
        <p:spPr>
          <a:xfrm>
            <a:off x="6859343" y="1896200"/>
            <a:ext cx="3600450" cy="2019300"/>
          </a:xfrm>
          <a:prstGeom prst="rect">
            <a:avLst/>
          </a:prstGeom>
        </p:spPr>
      </p:pic>
      <p:sp>
        <p:nvSpPr>
          <p:cNvPr id="2" name="Title 1">
            <a:extLst>
              <a:ext uri="{FF2B5EF4-FFF2-40B4-BE49-F238E27FC236}">
                <a16:creationId xmlns:a16="http://schemas.microsoft.com/office/drawing/2014/main" id="{3F6124DC-1210-9673-9898-A0A72B7460E5}"/>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35B52F77-9669-AEA3-DF7B-B0DF4DB87231}"/>
              </a:ext>
            </a:extLst>
          </p:cNvPr>
          <p:cNvSpPr>
            <a:spLocks noGrp="1"/>
          </p:cNvSpPr>
          <p:nvPr>
            <p:ph sz="half" idx="1"/>
          </p:nvPr>
        </p:nvSpPr>
        <p:spPr>
          <a:xfrm>
            <a:off x="838199" y="1825625"/>
            <a:ext cx="5347916" cy="4351338"/>
          </a:xfrm>
        </p:spPr>
        <p:txBody>
          <a:bodyPr>
            <a:normAutofit/>
          </a:bodyPr>
          <a:lstStyle/>
          <a:p>
            <a:pPr>
              <a:lnSpc>
                <a:spcPct val="170000"/>
              </a:lnSpc>
            </a:pPr>
            <a:r>
              <a:rPr lang="en-US" sz="1000" b="1" dirty="0"/>
              <a:t>Declining Views:</a:t>
            </a:r>
          </a:p>
          <a:p>
            <a:pPr lvl="1">
              <a:lnSpc>
                <a:spcPct val="170000"/>
              </a:lnSpc>
            </a:pPr>
            <a:r>
              <a:rPr lang="en-US" sz="1000" dirty="0"/>
              <a:t>The peak in views during January followed by a sharp decline indicates a reduction in audience engagement, possibly due to post-holiday seasonality or decreased marketing activity.</a:t>
            </a:r>
          </a:p>
          <a:p>
            <a:pPr>
              <a:lnSpc>
                <a:spcPct val="170000"/>
              </a:lnSpc>
            </a:pPr>
            <a:r>
              <a:rPr lang="en-US" sz="1000" b="1" dirty="0"/>
              <a:t>Low Interaction Rates:</a:t>
            </a:r>
          </a:p>
          <a:p>
            <a:pPr lvl="1">
              <a:lnSpc>
                <a:spcPct val="170000"/>
              </a:lnSpc>
            </a:pPr>
            <a:r>
              <a:rPr lang="en-US" sz="1000" dirty="0"/>
              <a:t>Clicks and likes remained consistently low compared to views, suggesting the need for more engaging content or stronger calls to action.</a:t>
            </a:r>
          </a:p>
          <a:p>
            <a:pPr>
              <a:lnSpc>
                <a:spcPct val="170000"/>
              </a:lnSpc>
            </a:pPr>
            <a:r>
              <a:rPr lang="en-US" sz="1000" b="1" dirty="0"/>
              <a:t>Content Type Performance:</a:t>
            </a:r>
          </a:p>
          <a:p>
            <a:pPr lvl="1">
              <a:lnSpc>
                <a:spcPct val="170000"/>
              </a:lnSpc>
            </a:pPr>
            <a:r>
              <a:rPr lang="en-US" sz="1000" dirty="0"/>
              <a:t>Blog content generated the highest number of views, particularly in January, while social media and video content remained relatively stable in the first half of the year before gradually declining toward the end of the year.</a:t>
            </a:r>
            <a:endParaRPr lang="nb-NO" sz="1000" dirty="0"/>
          </a:p>
        </p:txBody>
      </p:sp>
      <p:cxnSp>
        <p:nvCxnSpPr>
          <p:cNvPr id="9" name="Straight Arrow Connector 8">
            <a:extLst>
              <a:ext uri="{FF2B5EF4-FFF2-40B4-BE49-F238E27FC236}">
                <a16:creationId xmlns:a16="http://schemas.microsoft.com/office/drawing/2014/main" id="{5B125AB8-4240-2D18-40CE-ED068C5050A2}"/>
              </a:ext>
            </a:extLst>
          </p:cNvPr>
          <p:cNvCxnSpPr>
            <a:cxnSpLocks/>
          </p:cNvCxnSpPr>
          <p:nvPr/>
        </p:nvCxnSpPr>
        <p:spPr>
          <a:xfrm>
            <a:off x="8499942" y="2659359"/>
            <a:ext cx="834887" cy="492981"/>
          </a:xfrm>
          <a:prstGeom prst="straightConnector1">
            <a:avLst/>
          </a:prstGeom>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2" name="Picture 11">
            <a:extLst>
              <a:ext uri="{FF2B5EF4-FFF2-40B4-BE49-F238E27FC236}">
                <a16:creationId xmlns:a16="http://schemas.microsoft.com/office/drawing/2014/main" id="{EFCB3B96-CC79-28F5-12E5-707CCA2735BF}"/>
              </a:ext>
            </a:extLst>
          </p:cNvPr>
          <p:cNvPicPr>
            <a:picLocks noChangeAspect="1"/>
          </p:cNvPicPr>
          <p:nvPr/>
        </p:nvPicPr>
        <p:blipFill>
          <a:blip r:embed="rId3"/>
          <a:stretch>
            <a:fillRect/>
          </a:stretch>
        </p:blipFill>
        <p:spPr>
          <a:xfrm>
            <a:off x="6859343" y="4121012"/>
            <a:ext cx="4533900" cy="2114550"/>
          </a:xfrm>
          <a:prstGeom prst="rect">
            <a:avLst/>
          </a:prstGeom>
        </p:spPr>
      </p:pic>
    </p:spTree>
    <p:extLst>
      <p:ext uri="{BB962C8B-B14F-4D97-AF65-F5344CB8AC3E}">
        <p14:creationId xmlns:p14="http://schemas.microsoft.com/office/powerpoint/2010/main" val="997532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a:xfrm>
            <a:off x="838200" y="1825625"/>
            <a:ext cx="7065397" cy="4351338"/>
          </a:xfrm>
        </p:spPr>
        <p:txBody>
          <a:bodyPr>
            <a:normAutofit fontScale="475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154 reviews at 4 stars and 138 reviews at 5 stars, indicating overall positive feedback. Lower ratings (1-2 stars) account for a smaller proportion, with 27 reviews at 1 star and 60 reviews at 2 stars.</a:t>
            </a:r>
          </a:p>
          <a:p>
            <a:pPr>
              <a:lnSpc>
                <a:spcPct val="170000"/>
              </a:lnSpc>
            </a:pPr>
            <a:r>
              <a:rPr lang="en-US" b="1" dirty="0"/>
              <a:t>Sentiment Analysis:</a:t>
            </a:r>
          </a:p>
          <a:p>
            <a:pPr lvl="1">
              <a:lnSpc>
                <a:spcPct val="170000"/>
              </a:lnSpc>
            </a:pPr>
            <a:r>
              <a:rPr lang="en-US" dirty="0"/>
              <a:t>Positive sentiment dominates with 292 reviews, reflecting a generally satisfied customer base. Negative sentiment is present in 81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13" name="Picture 12">
            <a:extLst>
              <a:ext uri="{FF2B5EF4-FFF2-40B4-BE49-F238E27FC236}">
                <a16:creationId xmlns:a16="http://schemas.microsoft.com/office/drawing/2014/main" id="{D4DEF2D2-B3DF-E8BB-3F91-E6F735CCC0E9}"/>
              </a:ext>
            </a:extLst>
          </p:cNvPr>
          <p:cNvPicPr>
            <a:picLocks noChangeAspect="1"/>
          </p:cNvPicPr>
          <p:nvPr/>
        </p:nvPicPr>
        <p:blipFill>
          <a:blip r:embed="rId2"/>
          <a:stretch>
            <a:fillRect/>
          </a:stretch>
        </p:blipFill>
        <p:spPr>
          <a:xfrm>
            <a:off x="8970023" y="4165069"/>
            <a:ext cx="2314575" cy="2038606"/>
          </a:xfrm>
          <a:prstGeom prst="rect">
            <a:avLst/>
          </a:prstGeom>
        </p:spPr>
      </p:pic>
      <p:pic>
        <p:nvPicPr>
          <p:cNvPr id="15" name="Picture 14">
            <a:extLst>
              <a:ext uri="{FF2B5EF4-FFF2-40B4-BE49-F238E27FC236}">
                <a16:creationId xmlns:a16="http://schemas.microsoft.com/office/drawing/2014/main" id="{4FB34679-407E-DB63-B97F-25C5AA03F913}"/>
              </a:ext>
            </a:extLst>
          </p:cNvPr>
          <p:cNvPicPr>
            <a:picLocks noChangeAspect="1"/>
          </p:cNvPicPr>
          <p:nvPr/>
        </p:nvPicPr>
        <p:blipFill>
          <a:blip r:embed="rId3"/>
          <a:stretch>
            <a:fillRect/>
          </a:stretch>
        </p:blipFill>
        <p:spPr>
          <a:xfrm>
            <a:off x="8931922" y="1791494"/>
            <a:ext cx="2390775" cy="2209800"/>
          </a:xfrm>
          <a:prstGeom prst="rect">
            <a:avLst/>
          </a:prstGeom>
        </p:spPr>
      </p:pic>
    </p:spTree>
    <p:extLst>
      <p:ext uri="{BB962C8B-B14F-4D97-AF65-F5344CB8AC3E}">
        <p14:creationId xmlns:p14="http://schemas.microsoft.com/office/powerpoint/2010/main" val="100830217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166</TotalTime>
  <Words>533</Words>
  <Application>Microsoft Office PowerPoint</Application>
  <PresentationFormat>Widescreen</PresentationFormat>
  <Paragraphs>31</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Thao Nguyen</cp:lastModifiedBy>
  <cp:revision>4</cp:revision>
  <dcterms:created xsi:type="dcterms:W3CDTF">2024-09-03T15:16:05Z</dcterms:created>
  <dcterms:modified xsi:type="dcterms:W3CDTF">2026-03-28T05:51:33Z</dcterms:modified>
</cp:coreProperties>
</file>